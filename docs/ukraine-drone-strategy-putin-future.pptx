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914400"/>
            <a:ext cx="10362895" cy="457200"/>
          </a:xfrm>
          <a:prstGeom prst="rect">
            <a:avLst/>
          </a:prstGeom>
          <a:noFill/>
        </p:spPr>
        <p:txBody>
          <a:bodyPr wrap="none">
            <a:spAutoFit/>
          </a:bodyPr>
          <a:lstStyle/>
          <a:p>
            <a:pPr>
              <a:defRPr sz="2200" b="1">
                <a:solidFill>
                  <a:srgbClr val="FF6B6B"/>
                </a:solidFill>
                <a:latin typeface="Malgun Gothic"/>
              </a:defRPr>
            </a:pPr>
            <a:r>
              <a:t>💡 [ 국제정세 ]</a:t>
            </a:r>
          </a:p>
        </p:txBody>
      </p:sp>
      <p:sp>
        <p:nvSpPr>
          <p:cNvPr id="3" name="TextBox 2"/>
          <p:cNvSpPr txBox="1"/>
          <p:nvPr/>
        </p:nvSpPr>
        <p:spPr>
          <a:xfrm>
            <a:off x="914400" y="1463040"/>
            <a:ext cx="10362895" cy="1828800"/>
          </a:xfrm>
          <a:prstGeom prst="rect">
            <a:avLst/>
          </a:prstGeom>
          <a:noFill/>
        </p:spPr>
        <p:txBody>
          <a:bodyPr wrap="square">
            <a:spAutoFit/>
          </a:bodyPr>
          <a:lstStyle/>
          <a:p>
            <a:pPr>
              <a:defRPr sz="4600" b="1">
                <a:solidFill>
                  <a:srgbClr val="FFFFFF"/>
                </a:solidFill>
                <a:latin typeface="Malgun Gothic"/>
              </a:defRPr>
            </a:pPr>
            <a:r>
              <a:t>우크라이나 드론 전략과 푸틴의 정치적 미래: 러우전의 행방은?</a:t>
            </a:r>
          </a:p>
        </p:txBody>
      </p:sp>
      <p:sp>
        <p:nvSpPr>
          <p:cNvPr id="4" name="Rectangle 3"/>
          <p:cNvSpPr/>
          <p:nvPr/>
        </p:nvSpPr>
        <p:spPr>
          <a:xfrm>
            <a:off x="914400" y="3657600"/>
            <a:ext cx="2286000" cy="54864"/>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023360"/>
            <a:ext cx="10362895" cy="1828800"/>
          </a:xfrm>
          <a:prstGeom prst="rect">
            <a:avLst/>
          </a:prstGeom>
          <a:noFill/>
        </p:spPr>
        <p:txBody>
          <a:bodyPr wrap="square">
            <a:spAutoFit/>
          </a:bodyPr>
          <a:lstStyle/>
          <a:p>
            <a:pPr>
              <a:lnSpc>
                <a:spcPct val="130000"/>
              </a:lnSpc>
              <a:defRPr sz="2400">
                <a:solidFill>
                  <a:srgbClr val="A0A0B8"/>
                </a:solidFill>
                <a:latin typeface="Malgun Gothic"/>
              </a:defRPr>
            </a:pPr>
            <a:r>
              <a:t>우크라이나가 드론을 활용한 효과적인 전략으로 러시아의 방공망을 무력화하며 전세에 큰 변화를 가져오고 있습니다. 이는 러시아가 가장 취약한 부분을 공격하여 전쟁의 행방을 결정짓겠다는 의지로 해석됩니다. 특히, 전쟁의 성과가 푸틴 대통령의 정치적 입지에 직접적인 영향을 미치는 만큼, 이번 전쟁의 결말은 러시아의 미래를 좌우할 중대한 분수령이 될 것입니다.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01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우크라이나의 드론 전략 변화</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러시아 방공망 무력화와 전세 역전의 가능성</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02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러시아의 핵심 취약점 공략</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전쟁 종결을 위한 우크라이나의 전략적 목표</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03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푸틴 대통령의 정치적 미래와 전쟁의 결말</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러시아 내부 권력 구도의 불안정성 증대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Rounded Rectangle 1"/>
          <p:cNvSpPr/>
          <p:nvPr/>
        </p:nvSpPr>
        <p:spPr>
          <a:xfrm>
            <a:off x="914400" y="1371600"/>
            <a:ext cx="10362895" cy="3474720"/>
          </a:xfrm>
          <a:prstGeom prst="roundRect">
            <a:avLst/>
          </a:prstGeom>
          <a:solidFill>
            <a:srgbClr val="1A1A2E"/>
          </a:solidFill>
          <a:ln>
            <a:solidFill>
              <a:srgbClr val="2D2D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645920"/>
            <a:ext cx="9448495" cy="2926080"/>
          </a:xfrm>
          <a:prstGeom prst="rect">
            <a:avLst/>
          </a:prstGeom>
          <a:noFill/>
        </p:spPr>
        <p:txBody>
          <a:bodyPr wrap="square">
            <a:spAutoFit/>
          </a:bodyPr>
          <a:lstStyle/>
          <a:p>
            <a:pPr>
              <a:spcAft>
                <a:spcPts val="1400"/>
              </a:spcAft>
              <a:defRPr sz="1400" b="1">
                <a:solidFill>
                  <a:srgbClr val="FF6B6B"/>
                </a:solidFill>
                <a:latin typeface="Malgun Gothic"/>
              </a:defRPr>
            </a:pPr>
            <a:r>
              <a:t>🎯 AI 추천사 및 시청 가치</a:t>
            </a:r>
          </a:p>
          <a:p>
            <a:pPr>
              <a:lnSpc>
                <a:spcPct val="130000"/>
              </a:lnSpc>
              <a:defRPr sz="1800" i="1">
                <a:solidFill>
                  <a:srgbClr val="E8E8F0"/>
                </a:solidFill>
                <a:latin typeface="Malgun Gothic"/>
              </a:defRPr>
            </a:pPr>
            <a:r>
              <a:t>이 영상은 우크라이나 전쟁의 최신 전황과 핵심 전략을 심도 있게 분석하여, 전쟁의 행방과 국제 정세의 변화를 이해하는 데 필수적인 통찰을 제공합니다. 우크라이나의 드론 활용법과 푸틴 대통령의 정치적 미래가 어떻게 얽혀 있는지 궁금하다면, 이 영상을 통해 깊이 있는 지식을 얻어가세요.</a:t>
            </a:r>
          </a:p>
        </p:txBody>
      </p:sp>
      <p:sp>
        <p:nvSpPr>
          <p:cNvPr id="4" name="TextBox 3"/>
          <p:cNvSpPr txBox="1"/>
          <p:nvPr/>
        </p:nvSpPr>
        <p:spPr>
          <a:xfrm>
            <a:off x="914400" y="5303520"/>
            <a:ext cx="10362895" cy="914400"/>
          </a:xfrm>
          <a:prstGeom prst="rect">
            <a:avLst/>
          </a:prstGeom>
          <a:noFill/>
        </p:spPr>
        <p:txBody>
          <a:bodyPr wrap="square">
            <a:spAutoFit/>
          </a:bodyPr>
          <a:lstStyle/>
          <a:p>
            <a:pPr>
              <a:lnSpc>
                <a:spcPct val="130000"/>
              </a:lnSpc>
              <a:defRPr sz="1200">
                <a:solidFill>
                  <a:srgbClr val="888888"/>
                </a:solidFill>
                <a:latin typeface="Malgun Gothic"/>
              </a:defRPr>
            </a:pPr>
            <a:r>
              <a:t>🏷️ Keywords: 우크라이나, 러시아, 드론, 푸틴, 전쟁</a:t>
            </a:r>
            <a:br/>
            <a:r>
              <a:t>🔗 Source: https://youtu.be/fhHV92PhZpQ</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