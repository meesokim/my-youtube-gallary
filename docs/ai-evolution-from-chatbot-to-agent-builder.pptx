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2743200" cy="365760"/>
          </a:xfrm>
          <a:prstGeom prst="rect">
            <a:avLst/>
          </a:prstGeom>
          <a:noFill/>
        </p:spPr>
        <p:txBody>
          <a:bodyPr wrap="none">
            <a:spAutoFit/>
          </a:bodyPr>
          <a:lstStyle/>
          <a:p>
            <a:pPr>
              <a:defRPr sz="1400" b="1">
                <a:solidFill>
                  <a:srgbClr val="FF6B6B"/>
                </a:solidFill>
                <a:latin typeface="Malgun Gothic"/>
              </a:defRPr>
            </a:pPr>
            <a:r>
              <a:t>[ AI ]</a:t>
            </a:r>
          </a:p>
        </p:txBody>
      </p:sp>
      <p:sp>
        <p:nvSpPr>
          <p:cNvPr id="3" name="TextBox 2"/>
          <p:cNvSpPr txBox="1"/>
          <p:nvPr/>
        </p:nvSpPr>
        <p:spPr>
          <a:xfrm>
            <a:off x="457200" y="640080"/>
            <a:ext cx="11277295" cy="914400"/>
          </a:xfrm>
          <a:prstGeom prst="rect">
            <a:avLst/>
          </a:prstGeom>
          <a:noFill/>
        </p:spPr>
        <p:txBody>
          <a:bodyPr wrap="square">
            <a:spAutoFit/>
          </a:bodyPr>
          <a:lstStyle/>
          <a:p>
            <a:pPr>
              <a:defRPr sz="3200" b="1">
                <a:solidFill>
                  <a:srgbClr val="FFFFFF"/>
                </a:solidFill>
                <a:latin typeface="Malgun Gothic"/>
              </a:defRPr>
            </a:pPr>
            <a:r>
              <a:t>AI 시대의 진화: 챗봇에서 에이전트, 그리고 빌더까지</a:t>
            </a:r>
          </a:p>
        </p:txBody>
      </p:sp>
      <p:sp>
        <p:nvSpPr>
          <p:cNvPr id="4" name="Rectangle 3"/>
          <p:cNvSpPr/>
          <p:nvPr/>
        </p:nvSpPr>
        <p:spPr>
          <a:xfrm>
            <a:off x="457200" y="1600200"/>
            <a:ext cx="1828800" cy="36576"/>
          </a:xfrm>
          <a:prstGeom prst="rect">
            <a:avLst/>
          </a:prstGeom>
          <a:solidFill>
            <a:srgbClr val="64B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1097280"/>
          </a:xfrm>
          <a:prstGeom prst="rect">
            <a:avLst/>
          </a:prstGeom>
          <a:noFill/>
        </p:spPr>
        <p:txBody>
          <a:bodyPr wrap="square">
            <a:spAutoFit/>
          </a:bodyPr>
          <a:lstStyle/>
          <a:p>
            <a:pPr>
              <a:defRPr sz="1600">
                <a:solidFill>
                  <a:srgbClr val="CCCCCC"/>
                </a:solidFill>
                <a:latin typeface="Malgun Gothic"/>
              </a:defRPr>
            </a:pPr>
            <a:r>
              <a:t>인공지능은 1956년 다트머스 회의에서 시작되어 두 번의 침체기를 겪었지만, 2017년 구글의 '어텐션 메커니즘'과 GPU의 발전으로 챗GPT와 같은 혁신을 이끌었습니다. 이제 AI는 단순한 챗봇을 넘어 목표 지향적이고 자율적으로 다단계 작업을 수행하는 '에이전트' 시대로 진화하고 있으며, 도메인 지식을 가진 누구나 AI를 활용해 문제를 해결하는 '빌더'가 될 수 있는 시대가 도래했습니다.</a:t>
            </a:r>
          </a:p>
        </p:txBody>
      </p:sp>
      <p:sp>
        <p:nvSpPr>
          <p:cNvPr id="6" name="TextBox 5"/>
          <p:cNvSpPr txBox="1"/>
          <p:nvPr/>
        </p:nvSpPr>
        <p:spPr>
          <a:xfrm>
            <a:off x="457200" y="3108960"/>
            <a:ext cx="11277295" cy="2926080"/>
          </a:xfrm>
          <a:prstGeom prst="rect">
            <a:avLst/>
          </a:prstGeom>
          <a:noFill/>
        </p:spPr>
        <p:txBody>
          <a:bodyPr wrap="square">
            <a:spAutoFit/>
          </a:bodyPr>
          <a:lstStyle/>
          <a:p>
            <a:pPr>
              <a:spcAft>
                <a:spcPts val="800"/>
              </a:spcAft>
              <a:defRPr sz="1300">
                <a:solidFill>
                  <a:srgbClr val="EEEEEE"/>
                </a:solidFill>
                <a:latin typeface="Malgun Gothic"/>
              </a:defRPr>
            </a:pPr>
            <a:r>
              <a:t>▸ AI의 역사와 챗GPT 혁명: AI는 1956년 다트머스 회의에서 개념화된 이후 두 번의 침체기를 겪었으나, 2017년 '어텐션 메커니즘'과 GPU의 병렬 처리 능력 덕분에 챗GPT와 같은 대화형 AI가 등장하며 대중화되었습니다.</a:t>
            </a:r>
          </a:p>
          <a:p>
            <a:pPr>
              <a:spcAft>
                <a:spcPts val="800"/>
              </a:spcAft>
              <a:defRPr sz="1300">
                <a:solidFill>
                  <a:srgbClr val="EEEEEE"/>
                </a:solidFill>
                <a:latin typeface="Malgun Gothic"/>
              </a:defRPr>
            </a:pPr>
            <a:r>
              <a:t>▸ 챗봇에서 에이전트 시대로의 전환: 챗GPT가 단일 질문에 답변하는 챗봇이었다면, 2026년부터는 목표를 부여하면 AI가 자율적으로 여러 단계를 거쳐 작업을 완성하는 '에이전트'가 핵심이 됩니다. 여러 에이전트가 협력하는 멀티 에이전트 구조는 AI의 신뢰도를 높이는 데 기여합니다.</a:t>
            </a:r>
          </a:p>
          <a:p>
            <a:pPr>
              <a:spcAft>
                <a:spcPts val="800"/>
              </a:spcAft>
              <a:defRPr sz="1300">
                <a:solidFill>
                  <a:srgbClr val="EEEEEE"/>
                </a:solidFill>
                <a:latin typeface="Malgun Gothic"/>
              </a:defRPr>
            </a:pPr>
            <a:r>
              <a:t>▸ AI 에이전트가 이끌 경제 변화: 2028년까지 기업 간(B2B) 거래의 90%가 AI 에이전트 간에 이루어지고, 2030년에는 '토큰'과 같은 프로그래머블 화폐가 전체 거래의 20%를 차지하며 GDP 측정 방식까지 변화시킬 수 있습니다.</a:t>
            </a:r>
          </a:p>
          <a:p>
            <a:pPr>
              <a:spcAft>
                <a:spcPts val="800"/>
              </a:spcAft>
              <a:defRPr sz="1300">
                <a:solidFill>
                  <a:srgbClr val="EEEEEE"/>
                </a:solidFill>
                <a:latin typeface="Malgun Gothic"/>
              </a:defRPr>
            </a:pPr>
            <a:r>
              <a:t>▸ AI 활용 트렌드의 진화: 하네스 엔지니어링: AI 활용 방식은 질문을 잘하는 '프롬프트 엔지니어링'에서 맥락을 제공하는 '컨텍스트 엔지니어링'을 거쳐, 이제는 여러 전문 에이전트의 작업을 효율적으로 조율하는 '하네스 엔지니어링'이 중요해지고 있습니다.</a:t>
            </a:r>
          </a:p>
          <a:p>
            <a:pPr>
              <a:spcAft>
                <a:spcPts val="800"/>
              </a:spcAft>
              <a:defRPr sz="1300">
                <a:solidFill>
                  <a:srgbClr val="EEEEEE"/>
                </a:solidFill>
                <a:latin typeface="Malgun Gothic"/>
              </a:defRPr>
            </a:pPr>
            <a:r>
              <a:t>▸ 도메인 지식 기반의 '빌더' 시대: AI 도구의 발전으로 개발자가 아니더라도 특정 분야의 전문 지식(도메인 날리지)을 가진 사람이라면 누구나 AI를 활용하여 복잡한 문제를 해결하고 혁신적인 시스템을 빠르게 구축할 수 있는 '빌더'가 될 수 있습니다.</a:t>
            </a:r>
          </a:p>
        </p:txBody>
      </p:sp>
      <p:sp>
        <p:nvSpPr>
          <p:cNvPr id="7" name="TextBox 6"/>
          <p:cNvSpPr txBox="1"/>
          <p:nvPr/>
        </p:nvSpPr>
        <p:spPr>
          <a:xfrm>
            <a:off x="457200" y="6217920"/>
            <a:ext cx="11277295" cy="457200"/>
          </a:xfrm>
          <a:prstGeom prst="rect">
            <a:avLst/>
          </a:prstGeom>
          <a:noFill/>
        </p:spPr>
        <p:txBody>
          <a:bodyPr wrap="none">
            <a:spAutoFit/>
          </a:bodyPr>
          <a:lstStyle/>
          <a:p>
            <a:pPr>
              <a:defRPr sz="1000">
                <a:solidFill>
                  <a:srgbClr val="888888"/>
                </a:solidFill>
                <a:latin typeface="Malgun Gothic"/>
              </a:defRPr>
            </a:pPr>
            <a:r>
              <a:t>Keywords: 인공지능, AI 에이전트, 챗GPT, AI 트렌드, 빌더 시대  |  🔗 https://youtu.be/ChsmNLwoHmw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