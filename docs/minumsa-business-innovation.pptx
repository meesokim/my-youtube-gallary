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457200" y="274320"/>
            <a:ext cx="2743200" cy="365760"/>
          </a:xfrm>
          <a:prstGeom prst="rect">
            <a:avLst/>
          </a:prstGeom>
          <a:noFill/>
        </p:spPr>
        <p:txBody>
          <a:bodyPr wrap="none">
            <a:spAutoFit/>
          </a:bodyPr>
          <a:lstStyle/>
          <a:p>
            <a:pPr>
              <a:defRPr sz="1400" b="1">
                <a:solidFill>
                  <a:srgbClr val="FF6B6B"/>
                </a:solidFill>
                <a:latin typeface="Malgun Gothic"/>
              </a:defRPr>
            </a:pPr>
            <a:r>
              <a:t>[ 비즈니스 ]</a:t>
            </a:r>
          </a:p>
        </p:txBody>
      </p:sp>
      <p:sp>
        <p:nvSpPr>
          <p:cNvPr id="3" name="TextBox 2"/>
          <p:cNvSpPr txBox="1"/>
          <p:nvPr/>
        </p:nvSpPr>
        <p:spPr>
          <a:xfrm>
            <a:off x="457200" y="640080"/>
            <a:ext cx="11277295" cy="914400"/>
          </a:xfrm>
          <a:prstGeom prst="rect">
            <a:avLst/>
          </a:prstGeom>
          <a:noFill/>
        </p:spPr>
        <p:txBody>
          <a:bodyPr wrap="square">
            <a:spAutoFit/>
          </a:bodyPr>
          <a:lstStyle/>
          <a:p>
            <a:pPr>
              <a:defRPr sz="3200" b="1">
                <a:solidFill>
                  <a:srgbClr val="FFFFFF"/>
                </a:solidFill>
                <a:latin typeface="Malgun Gothic"/>
              </a:defRPr>
            </a:pPr>
            <a:r>
              <a:t>출판 불황 속 민음사만 성공한 비결: 유튜브와 60년 혁신 DNA</a:t>
            </a:r>
          </a:p>
        </p:txBody>
      </p:sp>
      <p:sp>
        <p:nvSpPr>
          <p:cNvPr id="4" name="Rectangle 3"/>
          <p:cNvSpPr/>
          <p:nvPr/>
        </p:nvSpPr>
        <p:spPr>
          <a:xfrm>
            <a:off x="457200" y="1600200"/>
            <a:ext cx="1828800" cy="36576"/>
          </a:xfrm>
          <a:prstGeom prst="rect">
            <a:avLst/>
          </a:prstGeom>
          <a:solidFill>
            <a:srgbClr val="64B5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828800"/>
            <a:ext cx="11277295" cy="1097280"/>
          </a:xfrm>
          <a:prstGeom prst="rect">
            <a:avLst/>
          </a:prstGeom>
          <a:noFill/>
        </p:spPr>
        <p:txBody>
          <a:bodyPr wrap="square">
            <a:spAutoFit/>
          </a:bodyPr>
          <a:lstStyle/>
          <a:p>
            <a:pPr>
              <a:defRPr sz="1600">
                <a:solidFill>
                  <a:srgbClr val="CCCCCC"/>
                </a:solidFill>
                <a:latin typeface="Malgun Gothic"/>
              </a:defRPr>
            </a:pPr>
            <a:r>
              <a:t>출판 불황 속에서도 민음사가 영업이익 72% 증가라는 이례적인 성과를 달성한 비결은 혁신적인 비즈니스 모델 변화에 있습니다. 유튜브 채널 '민음사TV'를 통한 팬덤 구축과 백리스트 도서 판매 증대, 그리고 60년간 이어온 출판 혁신 DNA가 결합되어 지속 가능한 성장을 이끌었습니다.</a:t>
            </a:r>
          </a:p>
        </p:txBody>
      </p:sp>
      <p:sp>
        <p:nvSpPr>
          <p:cNvPr id="6" name="TextBox 5"/>
          <p:cNvSpPr txBox="1"/>
          <p:nvPr/>
        </p:nvSpPr>
        <p:spPr>
          <a:xfrm>
            <a:off x="457200" y="3108960"/>
            <a:ext cx="11277295" cy="2926080"/>
          </a:xfrm>
          <a:prstGeom prst="rect">
            <a:avLst/>
          </a:prstGeom>
          <a:noFill/>
        </p:spPr>
        <p:txBody>
          <a:bodyPr wrap="square">
            <a:spAutoFit/>
          </a:bodyPr>
          <a:lstStyle/>
          <a:p>
            <a:pPr>
              <a:spcAft>
                <a:spcPts val="800"/>
              </a:spcAft>
              <a:defRPr sz="1300">
                <a:solidFill>
                  <a:srgbClr val="EEEEEE"/>
                </a:solidFill>
                <a:latin typeface="Malgun Gothic"/>
              </a:defRPr>
            </a:pPr>
            <a:r>
              <a:t>▸ 유튜브 '민음사TV'를 통한 팬덤 구축 및 마케팅 혁신: 책 홍보 대신 직원 브랜딩과 소통에 집중하여 강력한 팬덤을 형성하고, 유료 멤버십 '민음블록' 성공과 함께 매출 증대로 이어지는 새로운 마케팅 및 판매 모델을 구축했습니다.</a:t>
            </a:r>
          </a:p>
          <a:p>
            <a:pPr>
              <a:spcAft>
                <a:spcPts val="800"/>
              </a:spcAft>
              <a:defRPr sz="1300">
                <a:solidFill>
                  <a:srgbClr val="EEEEEE"/>
                </a:solidFill>
                <a:latin typeface="Malgun Gothic"/>
              </a:defRPr>
            </a:pPr>
            <a:r>
              <a:t>▸ 백리스트(구간 도서) 중심의 수익 구조 강화: 신간 위주가 아닌 제작비 회수가 완료된 구간 도서, 특히 '세계 문학 전집'과 같은 스테디셀러 IP 판매를 극대화하여 출판업계 평균을 훨씬 뛰어넘는 높은 영업이익률을 달성했습니다.</a:t>
            </a:r>
          </a:p>
          <a:p>
            <a:pPr>
              <a:spcAft>
                <a:spcPts val="800"/>
              </a:spcAft>
              <a:defRPr sz="1300">
                <a:solidFill>
                  <a:srgbClr val="EEEEEE"/>
                </a:solidFill>
                <a:latin typeface="Malgun Gothic"/>
              </a:defRPr>
            </a:pPr>
            <a:r>
              <a:t>▸ 60년간 축적된 출판 혁신 DNA와 선제적 저작권 확보: 가로쓰기 도입, 북 디자인 개념 정립 등 책 자체의 혁신과 더불어, 저작권 협약 가입 10년 전부터 해외 저작권을 선제적으로 확보하여 '세계 문학 전집'이라는 강력한 IP를 구축한 장기적인 비즈니스 전략을 실행했습니다.</a:t>
            </a:r>
          </a:p>
          <a:p>
            <a:pPr>
              <a:spcAft>
                <a:spcPts val="800"/>
              </a:spcAft>
              <a:defRPr sz="1300">
                <a:solidFill>
                  <a:srgbClr val="EEEEEE"/>
                </a:solidFill>
                <a:latin typeface="Malgun Gothic"/>
              </a:defRPr>
            </a:pPr>
            <a:r>
              <a:t>▸ 인재의 자율성을 존중하는 기업 문화: '한번 해 보게' 정신으로 편집자들에게 책 기획 및 제작의 자율성을 부여하고 전문성을 신뢰하는 문화가 혁신적인 시도와 성공적인 콘텐츠 제작의 기반이 되었습니다.</a:t>
            </a:r>
          </a:p>
          <a:p>
            <a:pPr>
              <a:spcAft>
                <a:spcPts val="800"/>
              </a:spcAft>
              <a:defRPr sz="1300">
                <a:solidFill>
                  <a:srgbClr val="EEEEEE"/>
                </a:solidFill>
                <a:latin typeface="Malgun Gothic"/>
              </a:defRPr>
            </a:pPr>
            <a:r>
              <a:t>▸ 인프린트 브랜드를 통한 사업 다각화: 문학 외 아동/청소년(비룡소), 과학(사이언스북스), 장르문학(황금가지) 등 전문 인프린트 브랜드를 성공적으로 운영하여 다양한 독자층을 공략하고 밀리언셀러를 배출하며 사업 영역을 확장했습니다.</a:t>
            </a:r>
          </a:p>
        </p:txBody>
      </p:sp>
      <p:sp>
        <p:nvSpPr>
          <p:cNvPr id="7" name="TextBox 6"/>
          <p:cNvSpPr txBox="1"/>
          <p:nvPr/>
        </p:nvSpPr>
        <p:spPr>
          <a:xfrm>
            <a:off x="457200" y="6217920"/>
            <a:ext cx="11277295" cy="457200"/>
          </a:xfrm>
          <a:prstGeom prst="rect">
            <a:avLst/>
          </a:prstGeom>
          <a:noFill/>
        </p:spPr>
        <p:txBody>
          <a:bodyPr wrap="none">
            <a:spAutoFit/>
          </a:bodyPr>
          <a:lstStyle/>
          <a:p>
            <a:pPr>
              <a:defRPr sz="1000">
                <a:solidFill>
                  <a:srgbClr val="888888"/>
                </a:solidFill>
                <a:latin typeface="Malgun Gothic"/>
              </a:defRPr>
            </a:pPr>
            <a:r>
              <a:t>Keywords: 민음사, 출판, 비즈니스 모델, 유튜브 마케팅, 백리스트  |  🔗 https://youtu.be/LKKTAJytBRo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