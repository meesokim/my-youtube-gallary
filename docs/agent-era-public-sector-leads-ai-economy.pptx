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457200" y="274320"/>
            <a:ext cx="2743200" cy="365760"/>
          </a:xfrm>
          <a:prstGeom prst="rect">
            <a:avLst/>
          </a:prstGeom>
          <a:noFill/>
        </p:spPr>
        <p:txBody>
          <a:bodyPr wrap="none">
            <a:spAutoFit/>
          </a:bodyPr>
          <a:lstStyle/>
          <a:p>
            <a:pPr>
              <a:defRPr sz="1400" b="1">
                <a:solidFill>
                  <a:srgbClr val="FF6B6B"/>
                </a:solidFill>
                <a:latin typeface="Malgun Gothic"/>
              </a:defRPr>
            </a:pPr>
            <a:r>
              <a:t>[ AI ]</a:t>
            </a:r>
          </a:p>
        </p:txBody>
      </p:sp>
      <p:sp>
        <p:nvSpPr>
          <p:cNvPr id="3" name="TextBox 2"/>
          <p:cNvSpPr txBox="1"/>
          <p:nvPr/>
        </p:nvSpPr>
        <p:spPr>
          <a:xfrm>
            <a:off x="457200" y="640080"/>
            <a:ext cx="11277295" cy="914400"/>
          </a:xfrm>
          <a:prstGeom prst="rect">
            <a:avLst/>
          </a:prstGeom>
          <a:noFill/>
        </p:spPr>
        <p:txBody>
          <a:bodyPr wrap="square">
            <a:spAutoFit/>
          </a:bodyPr>
          <a:lstStyle/>
          <a:p>
            <a:pPr>
              <a:defRPr sz="3200" b="1">
                <a:solidFill>
                  <a:srgbClr val="FFFFFF"/>
                </a:solidFill>
                <a:latin typeface="Malgun Gothic"/>
              </a:defRPr>
            </a:pPr>
            <a:r>
              <a:t>에이전트 시대, 공공이 앞서야 민간이 산다: AI 트렌드와 경제 주권의 중요성</a:t>
            </a:r>
          </a:p>
        </p:txBody>
      </p:sp>
      <p:sp>
        <p:nvSpPr>
          <p:cNvPr id="4" name="Rectangle 3"/>
          <p:cNvSpPr/>
          <p:nvPr/>
        </p:nvSpPr>
        <p:spPr>
          <a:xfrm>
            <a:off x="457200" y="1600200"/>
            <a:ext cx="1828800" cy="36576"/>
          </a:xfrm>
          <a:prstGeom prst="rect">
            <a:avLst/>
          </a:prstGeom>
          <a:solidFill>
            <a:srgbClr val="64B5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828800"/>
            <a:ext cx="11277295" cy="1097280"/>
          </a:xfrm>
          <a:prstGeom prst="rect">
            <a:avLst/>
          </a:prstGeom>
          <a:noFill/>
        </p:spPr>
        <p:txBody>
          <a:bodyPr wrap="square">
            <a:spAutoFit/>
          </a:bodyPr>
          <a:lstStyle/>
          <a:p>
            <a:pPr>
              <a:defRPr sz="1600">
                <a:solidFill>
                  <a:srgbClr val="CCCCCC"/>
                </a:solidFill>
                <a:latin typeface="Malgun Gothic"/>
              </a:defRPr>
            </a:pPr>
            <a:r>
              <a:t>이 영상은 챗GPT로 촉발된 인공지능 혁명의 역사와 최신 트렌드를 일반인도 이해하기 쉽게 설명합니다. 특히 2026년부터 본격화될 '에이전트 시대'의 특징과 멀티 에이전트 시스템의 작동 방식, 그리고 AI 기술 발전이 가져올 경제적 파급효과와 한국의 AI 경제 주권 확보 필요성을 강조합니다.</a:t>
            </a:r>
          </a:p>
        </p:txBody>
      </p:sp>
      <p:sp>
        <p:nvSpPr>
          <p:cNvPr id="6" name="TextBox 5"/>
          <p:cNvSpPr txBox="1"/>
          <p:nvPr/>
        </p:nvSpPr>
        <p:spPr>
          <a:xfrm>
            <a:off x="457200" y="3108960"/>
            <a:ext cx="11277295" cy="2926080"/>
          </a:xfrm>
          <a:prstGeom prst="rect">
            <a:avLst/>
          </a:prstGeom>
          <a:noFill/>
        </p:spPr>
        <p:txBody>
          <a:bodyPr wrap="square">
            <a:spAutoFit/>
          </a:bodyPr>
          <a:lstStyle/>
          <a:p>
            <a:pPr>
              <a:spcAft>
                <a:spcPts val="800"/>
              </a:spcAft>
              <a:defRPr sz="1300">
                <a:solidFill>
                  <a:srgbClr val="EEEEEE"/>
                </a:solidFill>
                <a:latin typeface="Malgun Gothic"/>
              </a:defRPr>
            </a:pPr>
            <a:r>
              <a:t>▸ AI의 발전 과정과 어텐션 메커니즘: 1956년 다트머스 회의부터 두 번의 AI 겨울을 거쳐, 구글의 'Attention Is All You Need' 논문과 GPU의 결합으로 챗GPT가 탄생하기까지의 AI 발전사를 설명합니다.</a:t>
            </a:r>
          </a:p>
          <a:p>
            <a:pPr>
              <a:spcAft>
                <a:spcPts val="800"/>
              </a:spcAft>
              <a:defRPr sz="1300">
                <a:solidFill>
                  <a:srgbClr val="EEEEEE"/>
                </a:solidFill>
                <a:latin typeface="Malgun Gothic"/>
              </a:defRPr>
            </a:pPr>
            <a:r>
              <a:t>▸ 에이전트 시대의 도래와 특징: 챗봇의 단일 질문-답변을 넘어, 목표 지향적이고 자율적인 다단계 작업을 수행하는 에이전트의 개념과 인스트럭터, 워커, 디베이터로 구성된 멀티 에이전트 시스템을 소개합니다.</a:t>
            </a:r>
          </a:p>
          <a:p>
            <a:pPr>
              <a:spcAft>
                <a:spcPts val="800"/>
              </a:spcAft>
              <a:defRPr sz="1300">
                <a:solidFill>
                  <a:srgbClr val="EEEEEE"/>
                </a:solidFill>
                <a:latin typeface="Malgun Gothic"/>
              </a:defRPr>
            </a:pPr>
            <a:r>
              <a:t>▸ AI 엔지니어링 트렌드 변화: 질문을 잘하는 '프롬프트 엔지니어링'에서 데이터와 맥락을 제공하는 '컨텍스트 엔지니어링'을 거쳐, 여러 에이전트를 조율하는 '하네스 엔지니어링'으로 진화하는 AI 활용 트렌드를 설명합니다.</a:t>
            </a:r>
          </a:p>
          <a:p>
            <a:pPr>
              <a:spcAft>
                <a:spcPts val="800"/>
              </a:spcAft>
              <a:defRPr sz="1300">
                <a:solidFill>
                  <a:srgbClr val="EEEEEE"/>
                </a:solidFill>
                <a:latin typeface="Malgun Gothic"/>
              </a:defRPr>
            </a:pPr>
            <a:r>
              <a:t>▸ 빌더 시대와 도메인 지식의 중요성: AI가 단순한 기술이 아닌 도구로서, 도메인 지식을 가진 누구나 '빌더'가 되어 혁신적인 AI 솔루션을 만들 수 있음을 실제 사례를 통해 보여줍니다.</a:t>
            </a:r>
          </a:p>
          <a:p>
            <a:pPr>
              <a:spcAft>
                <a:spcPts val="800"/>
              </a:spcAft>
              <a:defRPr sz="1300">
                <a:solidFill>
                  <a:srgbClr val="EEEEEE"/>
                </a:solidFill>
                <a:latin typeface="Malgun Gothic"/>
              </a:defRPr>
            </a:pPr>
            <a:r>
              <a:t>▸ AI 경제 주권과 토큰 이코노미: 에이전트 시대에 폭증할 토큰 사용량으로 인한 경상수지 적자 위험을 경고하며, 국내 AI 모델과 글로벌 모델의 '오케스트레이션'을 통한 AI 경제 주권 확보의 중요성을 역설합니다.</a:t>
            </a:r>
          </a:p>
        </p:txBody>
      </p:sp>
      <p:sp>
        <p:nvSpPr>
          <p:cNvPr id="7" name="TextBox 6"/>
          <p:cNvSpPr txBox="1"/>
          <p:nvPr/>
        </p:nvSpPr>
        <p:spPr>
          <a:xfrm>
            <a:off x="457200" y="6217920"/>
            <a:ext cx="11277295" cy="457200"/>
          </a:xfrm>
          <a:prstGeom prst="rect">
            <a:avLst/>
          </a:prstGeom>
          <a:noFill/>
        </p:spPr>
        <p:txBody>
          <a:bodyPr wrap="none">
            <a:spAutoFit/>
          </a:bodyPr>
          <a:lstStyle/>
          <a:p>
            <a:pPr>
              <a:defRPr sz="1000">
                <a:solidFill>
                  <a:srgbClr val="888888"/>
                </a:solidFill>
                <a:latin typeface="Malgun Gothic"/>
              </a:defRPr>
            </a:pPr>
            <a:r>
              <a:t>Keywords: AI, 에이전트, 챗GPT, GPU, 어텐션 메커니즘, 하네스 엔지니어링, 빌더, 토큰 이코노미, 경제 주권  |  🔗 https://youtu.be/ChsmNLwoHmw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