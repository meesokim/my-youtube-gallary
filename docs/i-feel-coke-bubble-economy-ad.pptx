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0F1A"/>
        </a:solidFill>
        <a:effectLst/>
      </p:bgPr>
    </p:bg>
    <p:spTree>
      <p:nvGrpSpPr>
        <p:cNvPr id="1" name=""/>
        <p:cNvGrpSpPr/>
        <p:nvPr/>
      </p:nvGrpSpPr>
      <p:grpSpPr/>
      <p:sp>
        <p:nvSpPr>
          <p:cNvPr id="2" name="TextBox 1"/>
          <p:cNvSpPr txBox="1"/>
          <p:nvPr/>
        </p:nvSpPr>
        <p:spPr>
          <a:xfrm>
            <a:off x="914400" y="914400"/>
            <a:ext cx="10362895" cy="457200"/>
          </a:xfrm>
          <a:prstGeom prst="rect">
            <a:avLst/>
          </a:prstGeom>
          <a:noFill/>
        </p:spPr>
        <p:txBody>
          <a:bodyPr wrap="none">
            <a:spAutoFit/>
          </a:bodyPr>
          <a:lstStyle/>
          <a:p>
            <a:pPr>
              <a:defRPr sz="2200" b="1">
                <a:solidFill>
                  <a:srgbClr val="FF6B6B"/>
                </a:solidFill>
                <a:latin typeface="Malgun Gothic"/>
              </a:defRPr>
            </a:pPr>
            <a:r>
              <a:t>💡 [ 마케팅 ]</a:t>
            </a:r>
          </a:p>
        </p:txBody>
      </p:sp>
      <p:sp>
        <p:nvSpPr>
          <p:cNvPr id="3" name="TextBox 2"/>
          <p:cNvSpPr txBox="1"/>
          <p:nvPr/>
        </p:nvSpPr>
        <p:spPr>
          <a:xfrm>
            <a:off x="914400" y="1463040"/>
            <a:ext cx="10362895" cy="1828800"/>
          </a:xfrm>
          <a:prstGeom prst="rect">
            <a:avLst/>
          </a:prstGeom>
          <a:noFill/>
        </p:spPr>
        <p:txBody>
          <a:bodyPr wrap="square">
            <a:spAutoFit/>
          </a:bodyPr>
          <a:lstStyle/>
          <a:p>
            <a:pPr>
              <a:defRPr sz="4600" b="1">
                <a:solidFill>
                  <a:srgbClr val="FFFFFF"/>
                </a:solidFill>
                <a:latin typeface="Malgun Gothic"/>
              </a:defRPr>
            </a:pPr>
            <a:r>
              <a:t>80년대 일본 버블 경제의 정점, 코카콜라 'I Feel Coke' 광고의 모든 것</a:t>
            </a:r>
          </a:p>
        </p:txBody>
      </p:sp>
      <p:sp>
        <p:nvSpPr>
          <p:cNvPr id="4" name="Rectangle 3"/>
          <p:cNvSpPr/>
          <p:nvPr/>
        </p:nvSpPr>
        <p:spPr>
          <a:xfrm>
            <a:off x="914400" y="3657600"/>
            <a:ext cx="2286000" cy="54864"/>
          </a:xfrm>
          <a:prstGeom prst="rect">
            <a:avLst/>
          </a:prstGeom>
          <a:solidFill>
            <a:srgbClr val="667E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4023360"/>
            <a:ext cx="10362895" cy="1828800"/>
          </a:xfrm>
          <a:prstGeom prst="rect">
            <a:avLst/>
          </a:prstGeom>
          <a:noFill/>
        </p:spPr>
        <p:txBody>
          <a:bodyPr wrap="square">
            <a:spAutoFit/>
          </a:bodyPr>
          <a:lstStyle/>
          <a:p>
            <a:pPr>
              <a:lnSpc>
                <a:spcPct val="130000"/>
              </a:lnSpc>
              <a:defRPr sz="2400">
                <a:solidFill>
                  <a:srgbClr val="A0A0B8"/>
                </a:solidFill>
                <a:latin typeface="Malgun Gothic"/>
              </a:defRPr>
            </a:pPr>
            <a:r>
              <a:t>1980년대 일본 버블 경제의 풍요로움과 세련미를 상징하는 코카콜라 'I Feel Coke' 광고 시리즈는 당시 일본 사회의 황금기를 완벽하게 담아냈습니다. 이 광고는 단순한 음료 광고를 넘어, 시대를 초월한 상쾌한 매력과 뛰어난 마케팅 전략으로 일본뿐만 아니라 한국인의 정서까지 사로잡으며 전설적인 반열에 올랐습니다.</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0F1A"/>
        </a:solidFill>
        <a:effectLst/>
      </p:bgPr>
    </p:bg>
    <p:spTree>
      <p:nvGrpSpPr>
        <p:cNvPr id="1" name=""/>
        <p:cNvGrpSpPr/>
        <p:nvPr/>
      </p:nvGrpSpPr>
      <p:grpSpPr/>
      <p:sp>
        <p:nvSpPr>
          <p:cNvPr id="2" name="TextBox 1"/>
          <p:cNvSpPr txBox="1"/>
          <p:nvPr/>
        </p:nvSpPr>
        <p:spPr>
          <a:xfrm>
            <a:off x="914400" y="548640"/>
            <a:ext cx="10362895" cy="365760"/>
          </a:xfrm>
          <a:prstGeom prst="rect">
            <a:avLst/>
          </a:prstGeom>
          <a:noFill/>
        </p:spPr>
        <p:txBody>
          <a:bodyPr wrap="none">
            <a:spAutoFit/>
          </a:bodyPr>
          <a:lstStyle/>
          <a:p>
            <a:pPr>
              <a:defRPr sz="1200" b="1">
                <a:solidFill>
                  <a:srgbClr val="667EEA"/>
                </a:solidFill>
                <a:latin typeface="Malgun Gothic"/>
              </a:defRPr>
            </a:pPr>
            <a:r>
              <a:t>CORE INSIGHT 01 / 03</a:t>
            </a:r>
          </a:p>
        </p:txBody>
      </p:sp>
      <p:sp>
        <p:nvSpPr>
          <p:cNvPr id="3" name="TextBox 2"/>
          <p:cNvSpPr txBox="1"/>
          <p:nvPr/>
        </p:nvSpPr>
        <p:spPr>
          <a:xfrm>
            <a:off x="914400" y="1097280"/>
            <a:ext cx="10362895" cy="1097280"/>
          </a:xfrm>
          <a:prstGeom prst="rect">
            <a:avLst/>
          </a:prstGeom>
          <a:noFill/>
        </p:spPr>
        <p:txBody>
          <a:bodyPr wrap="square">
            <a:spAutoFit/>
          </a:bodyPr>
          <a:lstStyle/>
          <a:p>
            <a:pPr>
              <a:defRPr sz="3000" b="1">
                <a:solidFill>
                  <a:srgbClr val="FFFFFF"/>
                </a:solidFill>
                <a:latin typeface="Malgun Gothic"/>
              </a:defRPr>
            </a:pPr>
            <a:r>
              <a:t>마케팅 전략의 정수</a:t>
            </a:r>
          </a:p>
        </p:txBody>
      </p:sp>
      <p:sp>
        <p:nvSpPr>
          <p:cNvPr id="4" name="Rectangle 3"/>
          <p:cNvSpPr/>
          <p:nvPr/>
        </p:nvSpPr>
        <p:spPr>
          <a:xfrm>
            <a:off x="914400" y="2286000"/>
            <a:ext cx="10362895" cy="18288"/>
          </a:xfrm>
          <a:prstGeom prst="rect">
            <a:avLst/>
          </a:prstGeom>
          <a:solidFill>
            <a:srgbClr val="2D2D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2743200"/>
            <a:ext cx="10362895" cy="3200400"/>
          </a:xfrm>
          <a:prstGeom prst="rect">
            <a:avLst/>
          </a:prstGeom>
          <a:noFill/>
        </p:spPr>
        <p:txBody>
          <a:bodyPr wrap="square">
            <a:spAutoFit/>
          </a:bodyPr>
          <a:lstStyle/>
          <a:p>
            <a:pPr>
              <a:lnSpc>
                <a:spcPct val="140000"/>
              </a:lnSpc>
              <a:defRPr sz="2000">
                <a:solidFill>
                  <a:srgbClr val="E8E8F0"/>
                </a:solidFill>
                <a:latin typeface="Malgun Gothic"/>
              </a:defRPr>
            </a:pPr>
            <a:r>
              <a:t>일본 시장 맞춤형 기획과 세계적 에이전시의 협업을 통해 코카콜라 재팬의 오랜 내수 시장 연구 데이터와 맥켄 에릭슨, 하쿠도의 협업, 마크 펠츠의 세 가지 기조(세련미, 젊음, 음악)가 결합되어 일본인의 정서에 깊이 파고드는 광고를 탄생시켰습니다. 특히 펩시와의 경쟁 속에서 차별화된 브랜드 이미지를 구축하려는 노력이 돋보입니다.</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0F1A"/>
        </a:solidFill>
        <a:effectLst/>
      </p:bgPr>
    </p:bg>
    <p:spTree>
      <p:nvGrpSpPr>
        <p:cNvPr id="1" name=""/>
        <p:cNvGrpSpPr/>
        <p:nvPr/>
      </p:nvGrpSpPr>
      <p:grpSpPr/>
      <p:sp>
        <p:nvSpPr>
          <p:cNvPr id="2" name="TextBox 1"/>
          <p:cNvSpPr txBox="1"/>
          <p:nvPr/>
        </p:nvSpPr>
        <p:spPr>
          <a:xfrm>
            <a:off x="914400" y="548640"/>
            <a:ext cx="10362895" cy="365760"/>
          </a:xfrm>
          <a:prstGeom prst="rect">
            <a:avLst/>
          </a:prstGeom>
          <a:noFill/>
        </p:spPr>
        <p:txBody>
          <a:bodyPr wrap="none">
            <a:spAutoFit/>
          </a:bodyPr>
          <a:lstStyle/>
          <a:p>
            <a:pPr>
              <a:defRPr sz="1200" b="1">
                <a:solidFill>
                  <a:srgbClr val="667EEA"/>
                </a:solidFill>
                <a:latin typeface="Malgun Gothic"/>
              </a:defRPr>
            </a:pPr>
            <a:r>
              <a:t>CORE INSIGHT 02 / 03</a:t>
            </a:r>
          </a:p>
        </p:txBody>
      </p:sp>
      <p:sp>
        <p:nvSpPr>
          <p:cNvPr id="3" name="TextBox 2"/>
          <p:cNvSpPr txBox="1"/>
          <p:nvPr/>
        </p:nvSpPr>
        <p:spPr>
          <a:xfrm>
            <a:off x="914400" y="1097280"/>
            <a:ext cx="10362895" cy="1097280"/>
          </a:xfrm>
          <a:prstGeom prst="rect">
            <a:avLst/>
          </a:prstGeom>
          <a:noFill/>
        </p:spPr>
        <p:txBody>
          <a:bodyPr wrap="square">
            <a:spAutoFit/>
          </a:bodyPr>
          <a:lstStyle/>
          <a:p>
            <a:pPr>
              <a:defRPr sz="3000" b="1">
                <a:solidFill>
                  <a:srgbClr val="FFFFFF"/>
                </a:solidFill>
                <a:latin typeface="Malgun Gothic"/>
              </a:defRPr>
            </a:pPr>
            <a:r>
              <a:t>버블 경제 시대의 문화적 아이콘</a:t>
            </a:r>
          </a:p>
        </p:txBody>
      </p:sp>
      <p:sp>
        <p:nvSpPr>
          <p:cNvPr id="4" name="Rectangle 3"/>
          <p:cNvSpPr/>
          <p:nvPr/>
        </p:nvSpPr>
        <p:spPr>
          <a:xfrm>
            <a:off x="914400" y="2286000"/>
            <a:ext cx="10362895" cy="18288"/>
          </a:xfrm>
          <a:prstGeom prst="rect">
            <a:avLst/>
          </a:prstGeom>
          <a:solidFill>
            <a:srgbClr val="2D2D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2743200"/>
            <a:ext cx="10362895" cy="3200400"/>
          </a:xfrm>
          <a:prstGeom prst="rect">
            <a:avLst/>
          </a:prstGeom>
          <a:noFill/>
        </p:spPr>
        <p:txBody>
          <a:bodyPr wrap="square">
            <a:spAutoFit/>
          </a:bodyPr>
          <a:lstStyle/>
          <a:p>
            <a:pPr>
              <a:lnSpc>
                <a:spcPct val="140000"/>
              </a:lnSpc>
              <a:defRPr sz="2000">
                <a:solidFill>
                  <a:srgbClr val="E8E8F0"/>
                </a:solidFill>
                <a:latin typeface="Malgun Gothic"/>
              </a:defRPr>
            </a:pPr>
            <a:r>
              <a:t>풍요와 여유를 담은 시대를 초월한 미학으로 'I Feel Coke' 광고는 80년대 일본 버블 경제의 절정기에 방영되며 풍요와 여유, 세련미, 밝은 미소를 시각적으로 완벽하게 구현했습니다. 이 광고는 당시 일본 사회의 긍정적인 분위기와 행복감을 대변하며, 단순한 상품 광고를 넘어 시대의 문화적 상징으로 자리매김했습니다.</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0F1A"/>
        </a:solidFill>
        <a:effectLst/>
      </p:bgPr>
    </p:bg>
    <p:spTree>
      <p:nvGrpSpPr>
        <p:cNvPr id="1" name=""/>
        <p:cNvGrpSpPr/>
        <p:nvPr/>
      </p:nvGrpSpPr>
      <p:grpSpPr/>
      <p:sp>
        <p:nvSpPr>
          <p:cNvPr id="2" name="TextBox 1"/>
          <p:cNvSpPr txBox="1"/>
          <p:nvPr/>
        </p:nvSpPr>
        <p:spPr>
          <a:xfrm>
            <a:off x="914400" y="548640"/>
            <a:ext cx="10362895" cy="365760"/>
          </a:xfrm>
          <a:prstGeom prst="rect">
            <a:avLst/>
          </a:prstGeom>
          <a:noFill/>
        </p:spPr>
        <p:txBody>
          <a:bodyPr wrap="none">
            <a:spAutoFit/>
          </a:bodyPr>
          <a:lstStyle/>
          <a:p>
            <a:pPr>
              <a:defRPr sz="1200" b="1">
                <a:solidFill>
                  <a:srgbClr val="667EEA"/>
                </a:solidFill>
                <a:latin typeface="Malgun Gothic"/>
              </a:defRPr>
            </a:pPr>
            <a:r>
              <a:t>CORE INSIGHT 03 / 03</a:t>
            </a:r>
          </a:p>
        </p:txBody>
      </p:sp>
      <p:sp>
        <p:nvSpPr>
          <p:cNvPr id="3" name="TextBox 2"/>
          <p:cNvSpPr txBox="1"/>
          <p:nvPr/>
        </p:nvSpPr>
        <p:spPr>
          <a:xfrm>
            <a:off x="914400" y="1097280"/>
            <a:ext cx="10362895" cy="1097280"/>
          </a:xfrm>
          <a:prstGeom prst="rect">
            <a:avLst/>
          </a:prstGeom>
          <a:noFill/>
        </p:spPr>
        <p:txBody>
          <a:bodyPr wrap="square">
            <a:spAutoFit/>
          </a:bodyPr>
          <a:lstStyle/>
          <a:p>
            <a:pPr>
              <a:defRPr sz="3000" b="1">
                <a:solidFill>
                  <a:srgbClr val="FFFFFF"/>
                </a:solidFill>
                <a:latin typeface="Malgun Gothic"/>
              </a:defRPr>
            </a:pPr>
            <a:r>
              <a:t>음악과 모델의 시너지</a:t>
            </a:r>
          </a:p>
        </p:txBody>
      </p:sp>
      <p:sp>
        <p:nvSpPr>
          <p:cNvPr id="4" name="Rectangle 3"/>
          <p:cNvSpPr/>
          <p:nvPr/>
        </p:nvSpPr>
        <p:spPr>
          <a:xfrm>
            <a:off x="914400" y="2286000"/>
            <a:ext cx="10362895" cy="18288"/>
          </a:xfrm>
          <a:prstGeom prst="rect">
            <a:avLst/>
          </a:prstGeom>
          <a:solidFill>
            <a:srgbClr val="2D2D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2743200"/>
            <a:ext cx="10362895" cy="3200400"/>
          </a:xfrm>
          <a:prstGeom prst="rect">
            <a:avLst/>
          </a:prstGeom>
          <a:noFill/>
        </p:spPr>
        <p:txBody>
          <a:bodyPr wrap="square">
            <a:spAutoFit/>
          </a:bodyPr>
          <a:lstStyle/>
          <a:p>
            <a:pPr>
              <a:lnSpc>
                <a:spcPct val="140000"/>
              </a:lnSpc>
              <a:defRPr sz="2000">
                <a:solidFill>
                  <a:srgbClr val="E8E8F0"/>
                </a:solidFill>
                <a:latin typeface="Malgun Gothic"/>
              </a:defRPr>
            </a:pPr>
            <a:r>
              <a:t>감성을 자극하는 주제곡과 스타 모델의 매력으로 작곡가 이노우에 다이스케가 만든 'I Feel Coke' 주제곡은 광고 촬영 전부터 제작되어 일관된 분위기를 조성했으며, 브레니스와 마츠모토 타카미 같은 당대 최고의 모델들이 출연하여 코카콜라의 상쾌한 이미지를 극대화했습니다. 이들의 매력적인 모습과 귀에 맴도는 음악은 광고의 성공에 결정적인 역할을 했습니다.</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0F1A"/>
        </a:solidFill>
        <a:effectLst/>
      </p:bgPr>
    </p:bg>
    <p:spTree>
      <p:nvGrpSpPr>
        <p:cNvPr id="1" name=""/>
        <p:cNvGrpSpPr/>
        <p:nvPr/>
      </p:nvGrpSpPr>
      <p:grpSpPr/>
      <p:sp>
        <p:nvSpPr>
          <p:cNvPr id="2" name="Rounded Rectangle 1"/>
          <p:cNvSpPr/>
          <p:nvPr/>
        </p:nvSpPr>
        <p:spPr>
          <a:xfrm>
            <a:off x="914400" y="1371600"/>
            <a:ext cx="10362895" cy="3474720"/>
          </a:xfrm>
          <a:prstGeom prst="roundRect">
            <a:avLst/>
          </a:prstGeom>
          <a:solidFill>
            <a:srgbClr val="1A1A2E"/>
          </a:solidFill>
          <a:ln>
            <a:solidFill>
              <a:srgbClr val="2D2D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371600" y="1645920"/>
            <a:ext cx="9448495" cy="2926080"/>
          </a:xfrm>
          <a:prstGeom prst="rect">
            <a:avLst/>
          </a:prstGeom>
          <a:noFill/>
        </p:spPr>
        <p:txBody>
          <a:bodyPr wrap="square">
            <a:spAutoFit/>
          </a:bodyPr>
          <a:lstStyle/>
          <a:p>
            <a:pPr>
              <a:spcAft>
                <a:spcPts val="1400"/>
              </a:spcAft>
              <a:defRPr sz="1400" b="1">
                <a:solidFill>
                  <a:srgbClr val="FF6B6B"/>
                </a:solidFill>
                <a:latin typeface="Malgun Gothic"/>
              </a:defRPr>
            </a:pPr>
            <a:r>
              <a:t>🎯 AI 추천사 및 시청 가치</a:t>
            </a:r>
          </a:p>
          <a:p>
            <a:pPr>
              <a:lnSpc>
                <a:spcPct val="130000"/>
              </a:lnSpc>
              <a:defRPr sz="1800" i="1">
                <a:solidFill>
                  <a:srgbClr val="E8E8F0"/>
                </a:solidFill>
                <a:latin typeface="Malgun Gothic"/>
              </a:defRPr>
            </a:pPr>
            <a:r>
              <a:t>80년대 일본 버블 경제의 황금기를 생생하게 경험하고 싶다면 이 영상을 놓치지 마세요. 단순한 광고를 넘어 한 시대의 문화와 정서를 완벽하게 담아낸 'I Feel Coke' 시리즈를 통해 뛰어난 마케팅 전략과 시대를 초월한 감각이 어떻게 탄생했는지 깊이 이해하고, 지금 봐도 전혀 촌스럽지 않은 상쾌한 매력에 푹 빠져볼 수 있을 것입니다.</a:t>
            </a:r>
          </a:p>
        </p:txBody>
      </p:sp>
      <p:sp>
        <p:nvSpPr>
          <p:cNvPr id="4" name="TextBox 3"/>
          <p:cNvSpPr txBox="1"/>
          <p:nvPr/>
        </p:nvSpPr>
        <p:spPr>
          <a:xfrm>
            <a:off x="914400" y="5303520"/>
            <a:ext cx="10362895" cy="914400"/>
          </a:xfrm>
          <a:prstGeom prst="rect">
            <a:avLst/>
          </a:prstGeom>
          <a:noFill/>
        </p:spPr>
        <p:txBody>
          <a:bodyPr wrap="square">
            <a:spAutoFit/>
          </a:bodyPr>
          <a:lstStyle/>
          <a:p>
            <a:pPr>
              <a:lnSpc>
                <a:spcPct val="130000"/>
              </a:lnSpc>
              <a:defRPr sz="1200">
                <a:solidFill>
                  <a:srgbClr val="888888"/>
                </a:solidFill>
                <a:latin typeface="Malgun Gothic"/>
              </a:defRPr>
            </a:pPr>
            <a:r>
              <a:t>🏷️ Keywords: 코카콜라, 아이필코크, 버블경제, 일본광고, 마케팅전략</a:t>
            </a:r>
            <a:br/>
            <a:r>
              <a:t>🔗 Source: https://youtu.be/gmC8YZto9Lg</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