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0F1A"/>
        </a:solidFill>
        <a:effectLst/>
      </p:bgPr>
    </p:bg>
    <p:spTree>
      <p:nvGrpSpPr>
        <p:cNvPr id="1" name=""/>
        <p:cNvGrpSpPr/>
        <p:nvPr/>
      </p:nvGrpSpPr>
      <p:grpSpPr/>
      <p:sp>
        <p:nvSpPr>
          <p:cNvPr id="2" name="TextBox 1"/>
          <p:cNvSpPr txBox="1"/>
          <p:nvPr/>
        </p:nvSpPr>
        <p:spPr>
          <a:xfrm>
            <a:off x="914400" y="914400"/>
            <a:ext cx="10362895" cy="457200"/>
          </a:xfrm>
          <a:prstGeom prst="rect">
            <a:avLst/>
          </a:prstGeom>
          <a:noFill/>
        </p:spPr>
        <p:txBody>
          <a:bodyPr wrap="none">
            <a:spAutoFit/>
          </a:bodyPr>
          <a:lstStyle/>
          <a:p>
            <a:pPr>
              <a:defRPr sz="2200" b="1">
                <a:solidFill>
                  <a:srgbClr val="FF6B6B"/>
                </a:solidFill>
                <a:latin typeface="Malgun Gothic"/>
              </a:defRPr>
            </a:pPr>
            <a:r>
              <a:t>💡 [ 트렌드 ]</a:t>
            </a:r>
          </a:p>
        </p:txBody>
      </p:sp>
      <p:sp>
        <p:nvSpPr>
          <p:cNvPr id="3" name="TextBox 2"/>
          <p:cNvSpPr txBox="1"/>
          <p:nvPr/>
        </p:nvSpPr>
        <p:spPr>
          <a:xfrm>
            <a:off x="914400" y="1463040"/>
            <a:ext cx="10362895" cy="1828800"/>
          </a:xfrm>
          <a:prstGeom prst="rect">
            <a:avLst/>
          </a:prstGeom>
          <a:noFill/>
        </p:spPr>
        <p:txBody>
          <a:bodyPr wrap="square">
            <a:spAutoFit/>
          </a:bodyPr>
          <a:lstStyle/>
          <a:p>
            <a:pPr>
              <a:defRPr sz="4600" b="1">
                <a:solidFill>
                  <a:srgbClr val="FFFFFF"/>
                </a:solidFill>
                <a:latin typeface="Malgun Gothic"/>
              </a:defRPr>
            </a:pPr>
            <a:r>
              <a:t>미래 자동차 산업의 주도권: 역사 속 교훈과 현재의 전환점</a:t>
            </a:r>
          </a:p>
        </p:txBody>
      </p:sp>
      <p:sp>
        <p:nvSpPr>
          <p:cNvPr id="4" name="Rectangle 3"/>
          <p:cNvSpPr/>
          <p:nvPr/>
        </p:nvSpPr>
        <p:spPr>
          <a:xfrm>
            <a:off x="914400" y="3657600"/>
            <a:ext cx="2286000" cy="54864"/>
          </a:xfrm>
          <a:prstGeom prst="rect">
            <a:avLst/>
          </a:prstGeom>
          <a:solidFill>
            <a:srgbClr val="667E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4023360"/>
            <a:ext cx="10362895" cy="1828800"/>
          </a:xfrm>
          <a:prstGeom prst="rect">
            <a:avLst/>
          </a:prstGeom>
          <a:noFill/>
        </p:spPr>
        <p:txBody>
          <a:bodyPr wrap="square">
            <a:spAutoFit/>
          </a:bodyPr>
          <a:lstStyle/>
          <a:p>
            <a:pPr>
              <a:lnSpc>
                <a:spcPct val="130000"/>
              </a:lnSpc>
              <a:defRPr sz="2400">
                <a:solidFill>
                  <a:srgbClr val="A0A0B8"/>
                </a:solidFill>
                <a:latin typeface="Malgun Gothic"/>
              </a:defRPr>
            </a:pPr>
            <a:r>
              <a:t>이 영상은 과거 고래잡이 산업과 마차 산업이 새로운 기술과 에너지원에 적응하지 못하고 도태되었던 역사를 통해, 현재 자동차 산업이 직면한 대전환기를 조명합니다. 내연기관 중심의 전통적인 자동차 기업들이 전기차와 소프트웨어 중심의 미래차 시대를 어떻게 받아들이고 대응해야 할지에 대한 중요한 교훈을 제시합니다.</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0F1A"/>
        </a:solidFill>
        <a:effectLst/>
      </p:bgPr>
    </p:bg>
    <p:spTree>
      <p:nvGrpSpPr>
        <p:cNvPr id="1" name=""/>
        <p:cNvGrpSpPr/>
        <p:nvPr/>
      </p:nvGrpSpPr>
      <p:grpSpPr/>
      <p:sp>
        <p:nvSpPr>
          <p:cNvPr id="2" name="TextBox 1"/>
          <p:cNvSpPr txBox="1"/>
          <p:nvPr/>
        </p:nvSpPr>
        <p:spPr>
          <a:xfrm>
            <a:off x="914400" y="548640"/>
            <a:ext cx="10362895" cy="365760"/>
          </a:xfrm>
          <a:prstGeom prst="rect">
            <a:avLst/>
          </a:prstGeom>
          <a:noFill/>
        </p:spPr>
        <p:txBody>
          <a:bodyPr wrap="none">
            <a:spAutoFit/>
          </a:bodyPr>
          <a:lstStyle/>
          <a:p>
            <a:pPr>
              <a:defRPr sz="1200" b="1">
                <a:solidFill>
                  <a:srgbClr val="667EEA"/>
                </a:solidFill>
                <a:latin typeface="Malgun Gothic"/>
              </a:defRPr>
            </a:pPr>
            <a:r>
              <a:t>CORE INSIGHT 01 / 03</a:t>
            </a:r>
          </a:p>
        </p:txBody>
      </p:sp>
      <p:sp>
        <p:nvSpPr>
          <p:cNvPr id="3" name="TextBox 2"/>
          <p:cNvSpPr txBox="1"/>
          <p:nvPr/>
        </p:nvSpPr>
        <p:spPr>
          <a:xfrm>
            <a:off x="914400" y="1097280"/>
            <a:ext cx="10362895" cy="1097280"/>
          </a:xfrm>
          <a:prstGeom prst="rect">
            <a:avLst/>
          </a:prstGeom>
          <a:noFill/>
        </p:spPr>
        <p:txBody>
          <a:bodyPr wrap="square">
            <a:spAutoFit/>
          </a:bodyPr>
          <a:lstStyle/>
          <a:p>
            <a:pPr>
              <a:defRPr sz="3000" b="1">
                <a:solidFill>
                  <a:srgbClr val="FFFFFF"/>
                </a:solidFill>
                <a:latin typeface="Malgun Gothic"/>
              </a:defRPr>
            </a:pPr>
            <a:r>
              <a:t>기술 전환기의 오만과 도태</a:t>
            </a:r>
          </a:p>
        </p:txBody>
      </p:sp>
      <p:sp>
        <p:nvSpPr>
          <p:cNvPr id="4" name="Rectangle 3"/>
          <p:cNvSpPr/>
          <p:nvPr/>
        </p:nvSpPr>
        <p:spPr>
          <a:xfrm>
            <a:off x="914400" y="2286000"/>
            <a:ext cx="10362895" cy="18288"/>
          </a:xfrm>
          <a:prstGeom prst="rect">
            <a:avLst/>
          </a:prstGeom>
          <a:solidFill>
            <a:srgbClr val="2D2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743200"/>
            <a:ext cx="10362895" cy="3200400"/>
          </a:xfrm>
          <a:prstGeom prst="rect">
            <a:avLst/>
          </a:prstGeom>
          <a:noFill/>
        </p:spPr>
        <p:txBody>
          <a:bodyPr wrap="square">
            <a:spAutoFit/>
          </a:bodyPr>
          <a:lstStyle/>
          <a:p>
            <a:pPr>
              <a:lnSpc>
                <a:spcPct val="140000"/>
              </a:lnSpc>
              <a:defRPr sz="2000">
                <a:solidFill>
                  <a:srgbClr val="E8E8F0"/>
                </a:solidFill>
                <a:latin typeface="Malgun Gothic"/>
              </a:defRPr>
            </a:pPr>
            <a:r>
              <a:t>과거 산업의 실패 사례: 1800년대 고래잡이 산업이 석유와 전구의 등장에도 불구하고 고래 기름 추출 효율 개선에만 집중하다가 쇠퇴했고, 마차 산업은 말똥 문제 해결을 위한 삽 연구에 몰두하며 자동차의 등장을 일시적 유행으로 치부하다가 사라진 사례를 통해, 핵심 기술 전환기에 기존 방식의 완벽화에만 매달리는 것이 얼마나 위험한 오만인지 설명합니다.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0F1A"/>
        </a:solidFill>
        <a:effectLst/>
      </p:bgPr>
    </p:bg>
    <p:spTree>
      <p:nvGrpSpPr>
        <p:cNvPr id="1" name=""/>
        <p:cNvGrpSpPr/>
        <p:nvPr/>
      </p:nvGrpSpPr>
      <p:grpSpPr/>
      <p:sp>
        <p:nvSpPr>
          <p:cNvPr id="2" name="TextBox 1"/>
          <p:cNvSpPr txBox="1"/>
          <p:nvPr/>
        </p:nvSpPr>
        <p:spPr>
          <a:xfrm>
            <a:off x="914400" y="548640"/>
            <a:ext cx="10362895" cy="365760"/>
          </a:xfrm>
          <a:prstGeom prst="rect">
            <a:avLst/>
          </a:prstGeom>
          <a:noFill/>
        </p:spPr>
        <p:txBody>
          <a:bodyPr wrap="none">
            <a:spAutoFit/>
          </a:bodyPr>
          <a:lstStyle/>
          <a:p>
            <a:pPr>
              <a:defRPr sz="1200" b="1">
                <a:solidFill>
                  <a:srgbClr val="667EEA"/>
                </a:solidFill>
                <a:latin typeface="Malgun Gothic"/>
              </a:defRPr>
            </a:pPr>
            <a:r>
              <a:t>CORE INSIGHT 02 / 03</a:t>
            </a:r>
          </a:p>
        </p:txBody>
      </p:sp>
      <p:sp>
        <p:nvSpPr>
          <p:cNvPr id="3" name="TextBox 2"/>
          <p:cNvSpPr txBox="1"/>
          <p:nvPr/>
        </p:nvSpPr>
        <p:spPr>
          <a:xfrm>
            <a:off x="914400" y="1097280"/>
            <a:ext cx="10362895" cy="1097280"/>
          </a:xfrm>
          <a:prstGeom prst="rect">
            <a:avLst/>
          </a:prstGeom>
          <a:noFill/>
        </p:spPr>
        <p:txBody>
          <a:bodyPr wrap="square">
            <a:spAutoFit/>
          </a:bodyPr>
          <a:lstStyle/>
          <a:p>
            <a:pPr>
              <a:defRPr sz="3000" b="1">
                <a:solidFill>
                  <a:srgbClr val="FFFFFF"/>
                </a:solidFill>
                <a:latin typeface="Malgun Gothic"/>
              </a:defRPr>
            </a:pPr>
            <a:r>
              <a:t>혁신적 대량 생산과 소프트웨어의 충격</a:t>
            </a:r>
          </a:p>
        </p:txBody>
      </p:sp>
      <p:sp>
        <p:nvSpPr>
          <p:cNvPr id="4" name="Rectangle 3"/>
          <p:cNvSpPr/>
          <p:nvPr/>
        </p:nvSpPr>
        <p:spPr>
          <a:xfrm>
            <a:off x="914400" y="2286000"/>
            <a:ext cx="10362895" cy="18288"/>
          </a:xfrm>
          <a:prstGeom prst="rect">
            <a:avLst/>
          </a:prstGeom>
          <a:solidFill>
            <a:srgbClr val="2D2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743200"/>
            <a:ext cx="10362895" cy="3200400"/>
          </a:xfrm>
          <a:prstGeom prst="rect">
            <a:avLst/>
          </a:prstGeom>
          <a:noFill/>
        </p:spPr>
        <p:txBody>
          <a:bodyPr wrap="square">
            <a:spAutoFit/>
          </a:bodyPr>
          <a:lstStyle/>
          <a:p>
            <a:pPr>
              <a:lnSpc>
                <a:spcPct val="140000"/>
              </a:lnSpc>
              <a:defRPr sz="2000">
                <a:solidFill>
                  <a:srgbClr val="E8E8F0"/>
                </a:solidFill>
                <a:latin typeface="Malgun Gothic"/>
              </a:defRPr>
            </a:pPr>
            <a:r>
              <a:t>산업 주도권 전환의 핵심: 헨리 포드가 도축장에서 영감을 얻어 컨베이어 벨트 시스템을 도입, 자동차 가격을 획기적으로 낮춰 대중화를 이끌었으며, 테슬라가 2012년 모델 S 리콜을 무선 소프트웨어 업데이트(OTA)로 처리하며 전통 자동차 업계에 중앙 집중식 소프트웨어 설계의 중요성과 파괴력을 각인시킨 사례를 통해, 기술 혁신과 새로운 비즈니스 모델이 산업의 주도권을 어떻게 바꾸는지 보여줍니다.</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0F1A"/>
        </a:solidFill>
        <a:effectLst/>
      </p:bgPr>
    </p:bg>
    <p:spTree>
      <p:nvGrpSpPr>
        <p:cNvPr id="1" name=""/>
        <p:cNvGrpSpPr/>
        <p:nvPr/>
      </p:nvGrpSpPr>
      <p:grpSpPr/>
      <p:sp>
        <p:nvSpPr>
          <p:cNvPr id="2" name="TextBox 1"/>
          <p:cNvSpPr txBox="1"/>
          <p:nvPr/>
        </p:nvSpPr>
        <p:spPr>
          <a:xfrm>
            <a:off x="914400" y="548640"/>
            <a:ext cx="10362895" cy="365760"/>
          </a:xfrm>
          <a:prstGeom prst="rect">
            <a:avLst/>
          </a:prstGeom>
          <a:noFill/>
        </p:spPr>
        <p:txBody>
          <a:bodyPr wrap="none">
            <a:spAutoFit/>
          </a:bodyPr>
          <a:lstStyle/>
          <a:p>
            <a:pPr>
              <a:defRPr sz="1200" b="1">
                <a:solidFill>
                  <a:srgbClr val="667EEA"/>
                </a:solidFill>
                <a:latin typeface="Malgun Gothic"/>
              </a:defRPr>
            </a:pPr>
            <a:r>
              <a:t>CORE INSIGHT 03 / 03</a:t>
            </a:r>
          </a:p>
        </p:txBody>
      </p:sp>
      <p:sp>
        <p:nvSpPr>
          <p:cNvPr id="3" name="TextBox 2"/>
          <p:cNvSpPr txBox="1"/>
          <p:nvPr/>
        </p:nvSpPr>
        <p:spPr>
          <a:xfrm>
            <a:off x="914400" y="1097280"/>
            <a:ext cx="10362895" cy="1097280"/>
          </a:xfrm>
          <a:prstGeom prst="rect">
            <a:avLst/>
          </a:prstGeom>
          <a:noFill/>
        </p:spPr>
        <p:txBody>
          <a:bodyPr wrap="square">
            <a:spAutoFit/>
          </a:bodyPr>
          <a:lstStyle/>
          <a:p>
            <a:pPr>
              <a:defRPr sz="3000" b="1">
                <a:solidFill>
                  <a:srgbClr val="FFFFFF"/>
                </a:solidFill>
                <a:latin typeface="Malgun Gothic"/>
              </a:defRPr>
            </a:pPr>
            <a:r>
              <a:t>현재 자동차 산업의 대전환기</a:t>
            </a:r>
          </a:p>
        </p:txBody>
      </p:sp>
      <p:sp>
        <p:nvSpPr>
          <p:cNvPr id="4" name="Rectangle 3"/>
          <p:cNvSpPr/>
          <p:nvPr/>
        </p:nvSpPr>
        <p:spPr>
          <a:xfrm>
            <a:off x="914400" y="2286000"/>
            <a:ext cx="10362895" cy="18288"/>
          </a:xfrm>
          <a:prstGeom prst="rect">
            <a:avLst/>
          </a:prstGeom>
          <a:solidFill>
            <a:srgbClr val="2D2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743200"/>
            <a:ext cx="10362895" cy="3200400"/>
          </a:xfrm>
          <a:prstGeom prst="rect">
            <a:avLst/>
          </a:prstGeom>
          <a:noFill/>
        </p:spPr>
        <p:txBody>
          <a:bodyPr wrap="square">
            <a:spAutoFit/>
          </a:bodyPr>
          <a:lstStyle/>
          <a:p>
            <a:pPr>
              <a:lnSpc>
                <a:spcPct val="140000"/>
              </a:lnSpc>
              <a:defRPr sz="2000">
                <a:solidFill>
                  <a:srgbClr val="E8E8F0"/>
                </a:solidFill>
                <a:latin typeface="Malgun Gothic"/>
              </a:defRPr>
            </a:pPr>
            <a:r>
              <a:t>과거의 교훈을 통한 미래 전략: 현재 자동차 산업이 내연기관에서 전기차 및 소프트웨어 중심으로 전환되는 시점에서, 과거 마차 산업이 겪었던 '전환 비용' 문제와 '기존 기술 고수' 및 '새로운 기술 수용'이라는 세 가지 대응 방식이 그대로 재현되고 있음을 지적합니다. 이는 전통적인 완성차 업체들이 테슬라와 같은 신생 기업의 등장을 어떻게 받아들이고 미래 전략을 수립해야 할지에 대한 중요한 시사점을 제공합니다.</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0F1A"/>
        </a:solidFill>
        <a:effectLst/>
      </p:bgPr>
    </p:bg>
    <p:spTree>
      <p:nvGrpSpPr>
        <p:cNvPr id="1" name=""/>
        <p:cNvGrpSpPr/>
        <p:nvPr/>
      </p:nvGrpSpPr>
      <p:grpSpPr/>
      <p:sp>
        <p:nvSpPr>
          <p:cNvPr id="2" name="Rounded Rectangle 1"/>
          <p:cNvSpPr/>
          <p:nvPr/>
        </p:nvSpPr>
        <p:spPr>
          <a:xfrm>
            <a:off x="914400" y="1371600"/>
            <a:ext cx="10362895" cy="3474720"/>
          </a:xfrm>
          <a:prstGeom prst="roundRect">
            <a:avLst/>
          </a:prstGeom>
          <a:solidFill>
            <a:srgbClr val="1A1A2E"/>
          </a:solidFill>
          <a:ln>
            <a:solidFill>
              <a:srgbClr val="2D2D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371600" y="1645920"/>
            <a:ext cx="9448495" cy="2926080"/>
          </a:xfrm>
          <a:prstGeom prst="rect">
            <a:avLst/>
          </a:prstGeom>
          <a:noFill/>
        </p:spPr>
        <p:txBody>
          <a:bodyPr wrap="square">
            <a:spAutoFit/>
          </a:bodyPr>
          <a:lstStyle/>
          <a:p>
            <a:pPr>
              <a:spcAft>
                <a:spcPts val="1400"/>
              </a:spcAft>
              <a:defRPr sz="1400" b="1">
                <a:solidFill>
                  <a:srgbClr val="FF6B6B"/>
                </a:solidFill>
                <a:latin typeface="Malgun Gothic"/>
              </a:defRPr>
            </a:pPr>
            <a:r>
              <a:t>🎯 AI 추천사 및 시청 가치</a:t>
            </a:r>
          </a:p>
          <a:p>
            <a:pPr>
              <a:lnSpc>
                <a:spcPct val="130000"/>
              </a:lnSpc>
              <a:defRPr sz="1800" i="1">
                <a:solidFill>
                  <a:srgbClr val="E8E8F0"/>
                </a:solidFill>
                <a:latin typeface="Malgun Gothic"/>
              </a:defRPr>
            </a:pPr>
            <a:r>
              <a:t>지금 자동차 산업은 역사상 가장 큰 변화의 물결을 맞이하고 있습니다. 이 영상을 통해 과거 고래잡이와 마차 산업의 흥망성쇠를 되짚어보며, 기술 전환기에 기업들이 어떤 실수를 저질렀고 어떻게 혁신에 성공했는지 생생한 교훈을 얻을 수 있습니다. 미래 자동차 시장의 주도권이 어디로 향할지, 그리고 당신의 비즈니스나 커리어는 이 변화에 어떻게 대비해야 할지 통찰력을 얻고 싶다면 이 영상을 꼭 시청하세요!</a:t>
            </a:r>
          </a:p>
        </p:txBody>
      </p:sp>
      <p:sp>
        <p:nvSpPr>
          <p:cNvPr id="4" name="TextBox 3"/>
          <p:cNvSpPr txBox="1"/>
          <p:nvPr/>
        </p:nvSpPr>
        <p:spPr>
          <a:xfrm>
            <a:off x="914400" y="5303520"/>
            <a:ext cx="10362895" cy="914400"/>
          </a:xfrm>
          <a:prstGeom prst="rect">
            <a:avLst/>
          </a:prstGeom>
          <a:noFill/>
        </p:spPr>
        <p:txBody>
          <a:bodyPr wrap="square">
            <a:spAutoFit/>
          </a:bodyPr>
          <a:lstStyle/>
          <a:p>
            <a:pPr>
              <a:lnSpc>
                <a:spcPct val="130000"/>
              </a:lnSpc>
              <a:defRPr sz="1200">
                <a:solidFill>
                  <a:srgbClr val="888888"/>
                </a:solidFill>
                <a:latin typeface="Malgun Gothic"/>
              </a:defRPr>
            </a:pPr>
            <a:r>
              <a:t>🏷️ Keywords: 미래차, 산업전환, 테슬라, 자율주행, 전기차, 내연기관, 기술혁신</a:t>
            </a:r>
            <a:br/>
            <a:r>
              <a:t>🔗 Source: https://youtu.be/Klfowp02sOU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